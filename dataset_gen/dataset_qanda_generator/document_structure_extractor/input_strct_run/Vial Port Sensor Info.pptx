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9296400" cy="147828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6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20" d="100"/>
          <a:sy n="120"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B252-5823-B52B-6B70-C817F68BEA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A7CD3F-062A-E78B-0603-7753564647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E93D07-6274-317A-1FF7-8DED347AF039}"/>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5" name="Footer Placeholder 4">
            <a:extLst>
              <a:ext uri="{FF2B5EF4-FFF2-40B4-BE49-F238E27FC236}">
                <a16:creationId xmlns:a16="http://schemas.microsoft.com/office/drawing/2014/main" id="{CBFB1F5D-0ED1-A71B-2C44-A54CD49152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42294F0-6099-6ACD-96A6-B7588E6E2C12}"/>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189040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0D4B3-24DD-B183-9E6D-0A8E0C7D16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3EC3D1-FFC3-7363-E5F6-1F39669C94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F707D9-DD0B-AE0C-8C85-E83F59A97434}"/>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5" name="Footer Placeholder 4">
            <a:extLst>
              <a:ext uri="{FF2B5EF4-FFF2-40B4-BE49-F238E27FC236}">
                <a16:creationId xmlns:a16="http://schemas.microsoft.com/office/drawing/2014/main" id="{F3CF240B-04BD-391A-8018-27064E15867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E1EC81-AD6C-5FF7-CCAA-7BD22A3D1935}"/>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1088217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65606-193A-731F-E2FF-24A7A693A3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59D409-1340-A1C3-165D-6E66FF92F8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F6FDCD-5F35-2655-9D50-17940AAE861D}"/>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5" name="Footer Placeholder 4">
            <a:extLst>
              <a:ext uri="{FF2B5EF4-FFF2-40B4-BE49-F238E27FC236}">
                <a16:creationId xmlns:a16="http://schemas.microsoft.com/office/drawing/2014/main" id="{2D3061D9-07EC-F484-C667-E0B3FBE278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B780BF-2709-A573-2CEE-1076F0A140EE}"/>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415178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C7320-C9C1-0CFF-B8CB-B131D550CD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F7F655-A7C6-CF83-F4CF-F13D4B5D95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D5C85E-F35C-3C04-45C4-570A887F3F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F48203-31D5-0A68-06D1-F3249C3C53C6}"/>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6" name="Footer Placeholder 5">
            <a:extLst>
              <a:ext uri="{FF2B5EF4-FFF2-40B4-BE49-F238E27FC236}">
                <a16:creationId xmlns:a16="http://schemas.microsoft.com/office/drawing/2014/main" id="{F8FF8C41-118F-A364-67CF-83846847913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66F111-75EB-3C45-A00D-3543C9522049}"/>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944081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9CEC-ECB0-9946-F2F2-42E0A4A8A0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EB8E4E-CED9-30AB-6CF4-C4CF56C9BD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F881CF-CBC5-BAED-7DAF-CA06D6634C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623DF2-8CF5-6FAD-F39A-D5D6967D58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24725C-90B4-5ECB-B1DE-B8C567167F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F0FDB7-A7A7-CAB0-FC5E-086F4AC773CA}"/>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8" name="Footer Placeholder 7">
            <a:extLst>
              <a:ext uri="{FF2B5EF4-FFF2-40B4-BE49-F238E27FC236}">
                <a16:creationId xmlns:a16="http://schemas.microsoft.com/office/drawing/2014/main" id="{92C87A47-EC5E-DCFB-10E2-D48B063E363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5C1065B-50AE-41C5-321E-C1D040431628}"/>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66137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740A3-147A-4C32-D8C9-2B7283ECE5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4447CC-9830-1273-2F71-FF555653C01C}"/>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4" name="Footer Placeholder 3">
            <a:extLst>
              <a:ext uri="{FF2B5EF4-FFF2-40B4-BE49-F238E27FC236}">
                <a16:creationId xmlns:a16="http://schemas.microsoft.com/office/drawing/2014/main" id="{C53EC3CD-FCE8-E565-2D4D-5A94F458343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B38FD03-2D3C-26FD-2926-0D02103BAF9C}"/>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3273060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FC710A-470F-7B04-BF80-DDB2C6D44B88}"/>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3" name="Footer Placeholder 2">
            <a:extLst>
              <a:ext uri="{FF2B5EF4-FFF2-40B4-BE49-F238E27FC236}">
                <a16:creationId xmlns:a16="http://schemas.microsoft.com/office/drawing/2014/main" id="{F742F9AA-21CD-2CD9-FCAB-0EE6B0B0923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6AEE4DD-F2D4-5880-98BD-FD5FA9576CCF}"/>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1577179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EC16E-CA13-1079-6F4D-B79F1BC248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5C4373-9350-C365-F805-5FECAFA860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936205-B7DD-D540-285E-BC6E70BF5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7230A-F503-3826-B893-042229146A79}"/>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6" name="Footer Placeholder 5">
            <a:extLst>
              <a:ext uri="{FF2B5EF4-FFF2-40B4-BE49-F238E27FC236}">
                <a16:creationId xmlns:a16="http://schemas.microsoft.com/office/drawing/2014/main" id="{047E3E56-BA09-8C56-AB47-E4C5E70207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0F919E2-1BCC-186A-9831-D8B22BB9FD2D}"/>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392562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3665F-2995-71AF-6F45-D830878F86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D3C8D9-0745-F798-CC73-751C292FB2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97FC11A-6ABC-F14D-19B9-BDD2C716AA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42CDBC-C5E2-2D9A-DC82-73816E61E74B}"/>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6" name="Footer Placeholder 5">
            <a:extLst>
              <a:ext uri="{FF2B5EF4-FFF2-40B4-BE49-F238E27FC236}">
                <a16:creationId xmlns:a16="http://schemas.microsoft.com/office/drawing/2014/main" id="{A660EFF7-A728-5E13-AFE8-7D52A821372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2EA081E-B6D8-96BF-72A1-3200D0824314}"/>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689145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F024-83D5-7E8B-F8ED-121A54E76A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46FF2A-ADB8-C6A0-4AE5-B60161A307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91B68-8EFD-4F56-09AA-AD0E11B199C4}"/>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5" name="Footer Placeholder 4">
            <a:extLst>
              <a:ext uri="{FF2B5EF4-FFF2-40B4-BE49-F238E27FC236}">
                <a16:creationId xmlns:a16="http://schemas.microsoft.com/office/drawing/2014/main" id="{0471CD6F-BCA5-842D-AC99-B8D1602EF45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9A1546-BF91-686D-C549-EC1B3EBA05EF}"/>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873084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BB7F58-1924-C923-B579-7E2F783ED2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2A59BF-BE87-A1F7-6CD5-7DF3CECB65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190F84-7C4D-8810-EBAC-DB18123E7D30}"/>
              </a:ext>
            </a:extLst>
          </p:cNvPr>
          <p:cNvSpPr>
            <a:spLocks noGrp="1"/>
          </p:cNvSpPr>
          <p:nvPr>
            <p:ph type="dt" sz="half" idx="10"/>
          </p:nvPr>
        </p:nvSpPr>
        <p:spPr/>
        <p:txBody>
          <a:bodyPr/>
          <a:lstStyle/>
          <a:p>
            <a:fld id="{B8622345-A251-4EA4-B26C-20A3212738C1}" type="datetimeFigureOut">
              <a:rPr lang="en-US" smtClean="0"/>
              <a:t>5/31/2023</a:t>
            </a:fld>
            <a:endParaRPr lang="en-US" dirty="0"/>
          </a:p>
        </p:txBody>
      </p:sp>
      <p:sp>
        <p:nvSpPr>
          <p:cNvPr id="5" name="Footer Placeholder 4">
            <a:extLst>
              <a:ext uri="{FF2B5EF4-FFF2-40B4-BE49-F238E27FC236}">
                <a16:creationId xmlns:a16="http://schemas.microsoft.com/office/drawing/2014/main" id="{C27A1563-1BE1-3B9E-D884-760B9CF260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DF2C7B-1446-7FF2-159B-33A05E447E7F}"/>
              </a:ext>
            </a:extLst>
          </p:cNvPr>
          <p:cNvSpPr>
            <a:spLocks noGrp="1"/>
          </p:cNvSpPr>
          <p:nvPr>
            <p:ph type="sldNum" sz="quarter" idx="12"/>
          </p:nvPr>
        </p:nvSpPr>
        <p:spPr/>
        <p:txBody>
          <a:bodyPr/>
          <a:lstStyle/>
          <a:p>
            <a:fld id="{71154292-1AD7-46F9-9EA1-1282E4F8BFB6}" type="slidenum">
              <a:rPr lang="en-US" smtClean="0"/>
              <a:t>‹#›</a:t>
            </a:fld>
            <a:endParaRPr lang="en-US" dirty="0"/>
          </a:p>
        </p:txBody>
      </p:sp>
    </p:spTree>
    <p:extLst>
      <p:ext uri="{BB962C8B-B14F-4D97-AF65-F5344CB8AC3E}">
        <p14:creationId xmlns:p14="http://schemas.microsoft.com/office/powerpoint/2010/main" val="207434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6AE66F-FC86-78A5-E06D-6E93CCDC6A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EC263E-E970-07DA-63DD-21BBF72889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A200B0-CFBB-6D0B-B91A-491CE0693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622345-A251-4EA4-B26C-20A3212738C1}" type="datetimeFigureOut">
              <a:rPr lang="en-US" smtClean="0"/>
              <a:t>5/31/2023</a:t>
            </a:fld>
            <a:endParaRPr lang="en-US" dirty="0"/>
          </a:p>
        </p:txBody>
      </p:sp>
      <p:sp>
        <p:nvSpPr>
          <p:cNvPr id="5" name="Footer Placeholder 4">
            <a:extLst>
              <a:ext uri="{FF2B5EF4-FFF2-40B4-BE49-F238E27FC236}">
                <a16:creationId xmlns:a16="http://schemas.microsoft.com/office/drawing/2014/main" id="{6EB77EED-A5FE-B66C-2F59-79394C5AE1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B00C0A9-C8AF-E7AE-9E54-C18544D1E5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54292-1AD7-46F9-9EA1-1282E4F8BFB6}" type="slidenum">
              <a:rPr lang="en-US" smtClean="0"/>
              <a:t>‹#›</a:t>
            </a:fld>
            <a:endParaRPr lang="en-US" dirty="0"/>
          </a:p>
        </p:txBody>
      </p:sp>
    </p:spTree>
    <p:extLst>
      <p:ext uri="{BB962C8B-B14F-4D97-AF65-F5344CB8AC3E}">
        <p14:creationId xmlns:p14="http://schemas.microsoft.com/office/powerpoint/2010/main" val="45818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emf"/><Relationship Id="rId7" Type="http://schemas.openxmlformats.org/officeDocument/2006/relationships/image" Target="../media/image5.jpeg"/><Relationship Id="rId2" Type="http://schemas.openxmlformats.org/officeDocument/2006/relationships/package" Target="../embeddings/Microsoft_Excel_Worksheet.xlsx"/><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6053C767-BE8C-BF62-D1B0-DF3B9451A2DE}"/>
              </a:ext>
            </a:extLst>
          </p:cNvPr>
          <p:cNvGraphicFramePr>
            <a:graphicFrameLocks noChangeAspect="1"/>
          </p:cNvGraphicFramePr>
          <p:nvPr>
            <p:extLst>
              <p:ext uri="{D42A27DB-BD31-4B8C-83A1-F6EECF244321}">
                <p14:modId xmlns:p14="http://schemas.microsoft.com/office/powerpoint/2010/main" val="1173325602"/>
              </p:ext>
            </p:extLst>
          </p:nvPr>
        </p:nvGraphicFramePr>
        <p:xfrm>
          <a:off x="10249087" y="3658598"/>
          <a:ext cx="1835073" cy="3091398"/>
        </p:xfrm>
        <a:graphic>
          <a:graphicData uri="http://schemas.openxmlformats.org/presentationml/2006/ole">
            <mc:AlternateContent xmlns:mc="http://schemas.openxmlformats.org/markup-compatibility/2006">
              <mc:Choice xmlns:v="urn:schemas-microsoft-com:vml" Requires="v">
                <p:oleObj name="Worksheet" r:id="rId2" imgW="2705190" imgH="4543307" progId="Excel.Sheet.12">
                  <p:embed/>
                </p:oleObj>
              </mc:Choice>
              <mc:Fallback>
                <p:oleObj name="Worksheet" r:id="rId2" imgW="2705190" imgH="4543307" progId="Excel.Sheet.12">
                  <p:embed/>
                  <p:pic>
                    <p:nvPicPr>
                      <p:cNvPr id="0" name=""/>
                      <p:cNvPicPr/>
                      <p:nvPr/>
                    </p:nvPicPr>
                    <p:blipFill>
                      <a:blip r:embed="rId3"/>
                      <a:stretch>
                        <a:fillRect/>
                      </a:stretch>
                    </p:blipFill>
                    <p:spPr>
                      <a:xfrm>
                        <a:off x="10249087" y="3658598"/>
                        <a:ext cx="1835073" cy="309139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01ECB580-84F0-C03E-9631-AD21B0852EE2}"/>
              </a:ext>
            </a:extLst>
          </p:cNvPr>
          <p:cNvSpPr txBox="1"/>
          <p:nvPr/>
        </p:nvSpPr>
        <p:spPr>
          <a:xfrm>
            <a:off x="3213588" y="0"/>
            <a:ext cx="6361043" cy="369332"/>
          </a:xfrm>
          <a:prstGeom prst="rect">
            <a:avLst/>
          </a:prstGeom>
          <a:noFill/>
        </p:spPr>
        <p:txBody>
          <a:bodyPr wrap="square" rtlCol="0">
            <a:spAutoFit/>
          </a:bodyPr>
          <a:lstStyle/>
          <a:p>
            <a:r>
              <a:rPr lang="en-US" b="1" u="sng" dirty="0"/>
              <a:t>AddV Filler Vial Port Sensor Alignment And Teaching</a:t>
            </a:r>
          </a:p>
        </p:txBody>
      </p:sp>
      <p:pic>
        <p:nvPicPr>
          <p:cNvPr id="9" name="Picture 8">
            <a:extLst>
              <a:ext uri="{FF2B5EF4-FFF2-40B4-BE49-F238E27FC236}">
                <a16:creationId xmlns:a16="http://schemas.microsoft.com/office/drawing/2014/main" id="{DC13F763-E962-008A-4C90-87D1F1688A20}"/>
              </a:ext>
            </a:extLst>
          </p:cNvPr>
          <p:cNvPicPr>
            <a:picLocks noChangeAspect="1"/>
          </p:cNvPicPr>
          <p:nvPr/>
        </p:nvPicPr>
        <p:blipFill>
          <a:blip r:embed="rId4"/>
          <a:stretch>
            <a:fillRect/>
          </a:stretch>
        </p:blipFill>
        <p:spPr>
          <a:xfrm>
            <a:off x="1827519" y="3212039"/>
            <a:ext cx="2432351" cy="3538739"/>
          </a:xfrm>
          <a:prstGeom prst="rect">
            <a:avLst/>
          </a:prstGeom>
        </p:spPr>
      </p:pic>
      <p:sp>
        <p:nvSpPr>
          <p:cNvPr id="12" name="TextBox 11">
            <a:extLst>
              <a:ext uri="{FF2B5EF4-FFF2-40B4-BE49-F238E27FC236}">
                <a16:creationId xmlns:a16="http://schemas.microsoft.com/office/drawing/2014/main" id="{7007BABB-1DA8-919D-9A96-1A505E0D6788}"/>
              </a:ext>
            </a:extLst>
          </p:cNvPr>
          <p:cNvSpPr txBox="1"/>
          <p:nvPr/>
        </p:nvSpPr>
        <p:spPr>
          <a:xfrm>
            <a:off x="-185942" y="351294"/>
            <a:ext cx="12012598" cy="584775"/>
          </a:xfrm>
          <a:prstGeom prst="rect">
            <a:avLst/>
          </a:prstGeom>
          <a:noFill/>
        </p:spPr>
        <p:txBody>
          <a:bodyPr wrap="square" rtlCol="0">
            <a:spAutoFit/>
          </a:bodyPr>
          <a:lstStyle/>
          <a:p>
            <a:pPr algn="ctr"/>
            <a:r>
              <a:rPr lang="en-US" sz="1600" b="1" dirty="0"/>
              <a:t>The Vial Port and the Bag Present Sensors read when the machine is at 4.0 degrees or any 22.5-degree increment after 4.0. </a:t>
            </a:r>
            <a:r>
              <a:rPr lang="en-US" sz="1600" b="1" i="1" dirty="0">
                <a:solidFill>
                  <a:schemeClr val="accent2"/>
                </a:solidFill>
              </a:rPr>
              <a:t>See Table 1.</a:t>
            </a:r>
            <a:endParaRPr lang="en-US" sz="1600" b="1" dirty="0">
              <a:solidFill>
                <a:schemeClr val="accent2"/>
              </a:solidFill>
            </a:endParaRPr>
          </a:p>
          <a:p>
            <a:pPr algn="ctr"/>
            <a:r>
              <a:rPr lang="en-US" sz="1600" b="1" dirty="0"/>
              <a:t>Center the visible laser of the sensors (both the Vial Port Sensor &amp; the Bag Present Sensor) as shown below in </a:t>
            </a:r>
            <a:r>
              <a:rPr lang="en-US" sz="1600" b="1" i="1" dirty="0">
                <a:solidFill>
                  <a:srgbClr val="7030A0"/>
                </a:solidFill>
              </a:rPr>
              <a:t>Fig. #1 and Fig. #2.</a:t>
            </a:r>
          </a:p>
        </p:txBody>
      </p:sp>
      <p:sp>
        <p:nvSpPr>
          <p:cNvPr id="13" name="TextBox 12">
            <a:extLst>
              <a:ext uri="{FF2B5EF4-FFF2-40B4-BE49-F238E27FC236}">
                <a16:creationId xmlns:a16="http://schemas.microsoft.com/office/drawing/2014/main" id="{35FAF8BD-4DB8-2619-4842-AA55FF09E388}"/>
              </a:ext>
            </a:extLst>
          </p:cNvPr>
          <p:cNvSpPr txBox="1"/>
          <p:nvPr/>
        </p:nvSpPr>
        <p:spPr>
          <a:xfrm>
            <a:off x="10761977" y="3429000"/>
            <a:ext cx="1057525" cy="307777"/>
          </a:xfrm>
          <a:prstGeom prst="rect">
            <a:avLst/>
          </a:prstGeom>
          <a:noFill/>
        </p:spPr>
        <p:txBody>
          <a:bodyPr wrap="square" rtlCol="0">
            <a:spAutoFit/>
          </a:bodyPr>
          <a:lstStyle/>
          <a:p>
            <a:r>
              <a:rPr lang="en-US" sz="1400" b="1" dirty="0">
                <a:solidFill>
                  <a:schemeClr val="accent2"/>
                </a:solidFill>
              </a:rPr>
              <a:t>Table #1</a:t>
            </a:r>
          </a:p>
        </p:txBody>
      </p:sp>
      <p:pic>
        <p:nvPicPr>
          <p:cNvPr id="15" name="Picture 14" descr="A close-up of a plastic container&#10;&#10;Description automatically generated with low confidence">
            <a:extLst>
              <a:ext uri="{FF2B5EF4-FFF2-40B4-BE49-F238E27FC236}">
                <a16:creationId xmlns:a16="http://schemas.microsoft.com/office/drawing/2014/main" id="{FC36A1F5-8E78-5EBF-457C-EA31DE74317F}"/>
              </a:ext>
            </a:extLst>
          </p:cNvPr>
          <p:cNvPicPr>
            <a:picLocks noChangeAspect="1"/>
          </p:cNvPicPr>
          <p:nvPr/>
        </p:nvPicPr>
        <p:blipFill rotWithShape="1">
          <a:blip r:embed="rId5">
            <a:extLst>
              <a:ext uri="{28A0092B-C50C-407E-A947-70E740481C1C}">
                <a14:useLocalDpi xmlns:a14="http://schemas.microsoft.com/office/drawing/2010/main" val="0"/>
              </a:ext>
            </a:extLst>
          </a:blip>
          <a:srcRect l="14152" t="14492" r="21530" b="37278"/>
          <a:stretch/>
        </p:blipFill>
        <p:spPr>
          <a:xfrm>
            <a:off x="40620" y="1931395"/>
            <a:ext cx="1805667" cy="2265936"/>
          </a:xfrm>
          <a:prstGeom prst="rect">
            <a:avLst/>
          </a:prstGeom>
        </p:spPr>
      </p:pic>
      <p:pic>
        <p:nvPicPr>
          <p:cNvPr id="17" name="Picture 16" descr="A close up of a machine&#10;&#10;Description automatically generated with low confidence">
            <a:extLst>
              <a:ext uri="{FF2B5EF4-FFF2-40B4-BE49-F238E27FC236}">
                <a16:creationId xmlns:a16="http://schemas.microsoft.com/office/drawing/2014/main" id="{6C048981-67C2-A2D0-2A6D-671A427481CF}"/>
              </a:ext>
            </a:extLst>
          </p:cNvPr>
          <p:cNvPicPr>
            <a:picLocks noChangeAspect="1"/>
          </p:cNvPicPr>
          <p:nvPr/>
        </p:nvPicPr>
        <p:blipFill rotWithShape="1">
          <a:blip r:embed="rId6">
            <a:extLst>
              <a:ext uri="{28A0092B-C50C-407E-A947-70E740481C1C}">
                <a14:useLocalDpi xmlns:a14="http://schemas.microsoft.com/office/drawing/2010/main" val="0"/>
              </a:ext>
            </a:extLst>
          </a:blip>
          <a:srcRect l="17898" t="15483" r="16277" b="23559"/>
          <a:stretch/>
        </p:blipFill>
        <p:spPr>
          <a:xfrm rot="10800000">
            <a:off x="40619" y="4600780"/>
            <a:ext cx="1805667" cy="2139965"/>
          </a:xfrm>
          <a:prstGeom prst="rect">
            <a:avLst/>
          </a:prstGeom>
        </p:spPr>
      </p:pic>
      <p:sp>
        <p:nvSpPr>
          <p:cNvPr id="18" name="TextBox 17">
            <a:extLst>
              <a:ext uri="{FF2B5EF4-FFF2-40B4-BE49-F238E27FC236}">
                <a16:creationId xmlns:a16="http://schemas.microsoft.com/office/drawing/2014/main" id="{C61C95B6-0F7A-3722-BCD8-7EB3A36C4300}"/>
              </a:ext>
            </a:extLst>
          </p:cNvPr>
          <p:cNvSpPr txBox="1"/>
          <p:nvPr/>
        </p:nvSpPr>
        <p:spPr>
          <a:xfrm>
            <a:off x="607923" y="1669785"/>
            <a:ext cx="568652" cy="261610"/>
          </a:xfrm>
          <a:prstGeom prst="rect">
            <a:avLst/>
          </a:prstGeom>
          <a:noFill/>
        </p:spPr>
        <p:txBody>
          <a:bodyPr wrap="square" rtlCol="0">
            <a:spAutoFit/>
          </a:bodyPr>
          <a:lstStyle/>
          <a:p>
            <a:r>
              <a:rPr lang="en-US" sz="1100" b="1" dirty="0">
                <a:solidFill>
                  <a:srgbClr val="7030A0"/>
                </a:solidFill>
              </a:rPr>
              <a:t>Fig. #1</a:t>
            </a:r>
          </a:p>
        </p:txBody>
      </p:sp>
      <p:sp>
        <p:nvSpPr>
          <p:cNvPr id="20" name="TextBox 19">
            <a:extLst>
              <a:ext uri="{FF2B5EF4-FFF2-40B4-BE49-F238E27FC236}">
                <a16:creationId xmlns:a16="http://schemas.microsoft.com/office/drawing/2014/main" id="{2B99AF43-6BB4-F713-54BA-34402CCC8BCF}"/>
              </a:ext>
            </a:extLst>
          </p:cNvPr>
          <p:cNvSpPr txBox="1"/>
          <p:nvPr/>
        </p:nvSpPr>
        <p:spPr>
          <a:xfrm>
            <a:off x="607923" y="4391964"/>
            <a:ext cx="713629"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030A0"/>
                </a:solidFill>
                <a:effectLst/>
                <a:uLnTx/>
                <a:uFillTx/>
                <a:latin typeface="Calibri" panose="020F0502020204030204"/>
                <a:ea typeface="+mn-ea"/>
                <a:cs typeface="+mn-cs"/>
              </a:rPr>
              <a:t>Fig. #2</a:t>
            </a:r>
          </a:p>
        </p:txBody>
      </p:sp>
      <p:sp>
        <p:nvSpPr>
          <p:cNvPr id="21" name="TextBox 20">
            <a:extLst>
              <a:ext uri="{FF2B5EF4-FFF2-40B4-BE49-F238E27FC236}">
                <a16:creationId xmlns:a16="http://schemas.microsoft.com/office/drawing/2014/main" id="{D95409FC-C2A6-4554-75B4-81782063BE33}"/>
              </a:ext>
            </a:extLst>
          </p:cNvPr>
          <p:cNvSpPr txBox="1"/>
          <p:nvPr/>
        </p:nvSpPr>
        <p:spPr>
          <a:xfrm>
            <a:off x="1934718" y="1939770"/>
            <a:ext cx="3617670" cy="1169551"/>
          </a:xfrm>
          <a:prstGeom prst="rect">
            <a:avLst/>
          </a:prstGeom>
          <a:noFill/>
        </p:spPr>
        <p:txBody>
          <a:bodyPr wrap="square" rtlCol="0">
            <a:spAutoFit/>
          </a:bodyPr>
          <a:lstStyle/>
          <a:p>
            <a:r>
              <a:rPr lang="en-US" sz="1400" b="1" dirty="0"/>
              <a:t>Teach Sensor using the method below </a:t>
            </a:r>
            <a:r>
              <a:rPr lang="en-US" sz="1400" b="1" i="1" dirty="0">
                <a:solidFill>
                  <a:srgbClr val="0070C0"/>
                </a:solidFill>
              </a:rPr>
              <a:t>Fig. # 3. </a:t>
            </a:r>
            <a:r>
              <a:rPr lang="en-US" sz="1400" b="1" i="1" u="sng" dirty="0"/>
              <a:t>Remove Bag </a:t>
            </a:r>
            <a:r>
              <a:rPr lang="en-US" sz="1400" b="1" i="1" dirty="0"/>
              <a:t>and press of the “SET” button briefly. With bag in place, press the “SET” button again briefly. </a:t>
            </a:r>
            <a:r>
              <a:rPr lang="en-US" sz="1400" b="1" i="1" dirty="0">
                <a:solidFill>
                  <a:srgbClr val="FF0000"/>
                </a:solidFill>
              </a:rPr>
              <a:t>**See Note #1**</a:t>
            </a:r>
          </a:p>
          <a:p>
            <a:endParaRPr lang="en-US" sz="1400" b="1" i="1" dirty="0">
              <a:solidFill>
                <a:srgbClr val="FF0000"/>
              </a:solidFill>
            </a:endParaRPr>
          </a:p>
        </p:txBody>
      </p:sp>
      <p:sp>
        <p:nvSpPr>
          <p:cNvPr id="22" name="TextBox 21">
            <a:extLst>
              <a:ext uri="{FF2B5EF4-FFF2-40B4-BE49-F238E27FC236}">
                <a16:creationId xmlns:a16="http://schemas.microsoft.com/office/drawing/2014/main" id="{F451B571-4BED-A81A-A1A3-192D0C466EF6}"/>
              </a:ext>
            </a:extLst>
          </p:cNvPr>
          <p:cNvSpPr txBox="1"/>
          <p:nvPr/>
        </p:nvSpPr>
        <p:spPr>
          <a:xfrm>
            <a:off x="2488536" y="2994714"/>
            <a:ext cx="1129085" cy="307777"/>
          </a:xfrm>
          <a:prstGeom prst="rect">
            <a:avLst/>
          </a:prstGeom>
          <a:noFill/>
        </p:spPr>
        <p:txBody>
          <a:bodyPr wrap="square" rtlCol="0">
            <a:spAutoFit/>
          </a:bodyPr>
          <a:lstStyle/>
          <a:p>
            <a:r>
              <a:rPr lang="en-US" sz="1400" b="1" dirty="0">
                <a:solidFill>
                  <a:srgbClr val="0070C0"/>
                </a:solidFill>
              </a:rPr>
              <a:t>Fig. #3</a:t>
            </a:r>
          </a:p>
        </p:txBody>
      </p:sp>
      <p:pic>
        <p:nvPicPr>
          <p:cNvPr id="24" name="Picture 23" descr="A close up of a device&#10;&#10;Description automatically generated with low confidence">
            <a:extLst>
              <a:ext uri="{FF2B5EF4-FFF2-40B4-BE49-F238E27FC236}">
                <a16:creationId xmlns:a16="http://schemas.microsoft.com/office/drawing/2014/main" id="{E22292E9-7125-0C5F-63D2-0243DA1E0EE3}"/>
              </a:ext>
            </a:extLst>
          </p:cNvPr>
          <p:cNvPicPr>
            <a:picLocks noChangeAspect="1"/>
          </p:cNvPicPr>
          <p:nvPr/>
        </p:nvPicPr>
        <p:blipFill rotWithShape="1">
          <a:blip r:embed="rId7">
            <a:extLst>
              <a:ext uri="{28A0092B-C50C-407E-A947-70E740481C1C}">
                <a14:useLocalDpi xmlns:a14="http://schemas.microsoft.com/office/drawing/2010/main" val="0"/>
              </a:ext>
            </a:extLst>
          </a:blip>
          <a:srcRect l="27313" t="19045" r="18589" b="21038"/>
          <a:stretch/>
        </p:blipFill>
        <p:spPr>
          <a:xfrm>
            <a:off x="7958295" y="3659380"/>
            <a:ext cx="2158568" cy="3091398"/>
          </a:xfrm>
          <a:prstGeom prst="rect">
            <a:avLst/>
          </a:prstGeom>
        </p:spPr>
      </p:pic>
      <p:sp>
        <p:nvSpPr>
          <p:cNvPr id="25" name="TextBox 24">
            <a:extLst>
              <a:ext uri="{FF2B5EF4-FFF2-40B4-BE49-F238E27FC236}">
                <a16:creationId xmlns:a16="http://schemas.microsoft.com/office/drawing/2014/main" id="{D13439ED-F3F1-2355-94CF-EEEFB96BE0C1}"/>
              </a:ext>
            </a:extLst>
          </p:cNvPr>
          <p:cNvSpPr txBox="1"/>
          <p:nvPr/>
        </p:nvSpPr>
        <p:spPr>
          <a:xfrm>
            <a:off x="4129439" y="3305065"/>
            <a:ext cx="1762475" cy="1569660"/>
          </a:xfrm>
          <a:prstGeom prst="rect">
            <a:avLst/>
          </a:prstGeom>
          <a:noFill/>
        </p:spPr>
        <p:txBody>
          <a:bodyPr wrap="square" rtlCol="0">
            <a:spAutoFit/>
          </a:bodyPr>
          <a:lstStyle/>
          <a:p>
            <a:r>
              <a:rPr lang="en-US" sz="1200" b="1" i="1" dirty="0">
                <a:solidFill>
                  <a:srgbClr val="FF0000"/>
                </a:solidFill>
                <a:latin typeface="Arial" panose="020B0604020202020204" pitchFamily="34" charset="0"/>
                <a:cs typeface="Arial" panose="020B0604020202020204" pitchFamily="34" charset="0"/>
              </a:rPr>
              <a:t>**Note #1 : The lens of the sensor </a:t>
            </a:r>
            <a:r>
              <a:rPr lang="en-US" sz="1200" b="1" i="1" u="sng" dirty="0">
                <a:solidFill>
                  <a:srgbClr val="FF0000"/>
                </a:solidFill>
                <a:latin typeface="Arial" panose="020B0604020202020204" pitchFamily="34" charset="0"/>
                <a:cs typeface="Arial" panose="020B0604020202020204" pitchFamily="34" charset="0"/>
              </a:rPr>
              <a:t>must be free of water droplets </a:t>
            </a:r>
            <a:r>
              <a:rPr lang="en-US" sz="1200" b="1" i="1" dirty="0">
                <a:solidFill>
                  <a:srgbClr val="FF0000"/>
                </a:solidFill>
                <a:latin typeface="Arial" panose="020B0604020202020204" pitchFamily="34" charset="0"/>
                <a:cs typeface="Arial" panose="020B0604020202020204" pitchFamily="34" charset="0"/>
              </a:rPr>
              <a:t>before teaching!</a:t>
            </a:r>
          </a:p>
          <a:p>
            <a:r>
              <a:rPr lang="en-US" sz="1200" b="1" i="1" dirty="0">
                <a:solidFill>
                  <a:srgbClr val="FF0000"/>
                </a:solidFill>
                <a:latin typeface="Arial" panose="020B0604020202020204" pitchFamily="34" charset="0"/>
                <a:cs typeface="Arial" panose="020B0604020202020204" pitchFamily="34" charset="0"/>
              </a:rPr>
              <a:t>Water droplets can diffuse the laser beam.  </a:t>
            </a:r>
            <a:r>
              <a:rPr lang="en-US" sz="1200" b="1" i="1" u="sng" dirty="0">
                <a:solidFill>
                  <a:srgbClr val="FF0000"/>
                </a:solidFill>
                <a:latin typeface="Arial" panose="020B0604020202020204" pitchFamily="34" charset="0"/>
                <a:cs typeface="Arial" panose="020B0604020202020204" pitchFamily="34" charset="0"/>
              </a:rPr>
              <a:t>Fig. #4</a:t>
            </a:r>
          </a:p>
        </p:txBody>
      </p:sp>
      <p:pic>
        <p:nvPicPr>
          <p:cNvPr id="27" name="Picture 26" descr="A close up of a device&#10;&#10;Description automatically generated with low confidence">
            <a:extLst>
              <a:ext uri="{FF2B5EF4-FFF2-40B4-BE49-F238E27FC236}">
                <a16:creationId xmlns:a16="http://schemas.microsoft.com/office/drawing/2014/main" id="{D434868D-7D0C-1B48-91D9-246CE3A22DDD}"/>
              </a:ext>
            </a:extLst>
          </p:cNvPr>
          <p:cNvPicPr>
            <a:picLocks noChangeAspect="1"/>
          </p:cNvPicPr>
          <p:nvPr/>
        </p:nvPicPr>
        <p:blipFill rotWithShape="1">
          <a:blip r:embed="rId8">
            <a:extLst>
              <a:ext uri="{28A0092B-C50C-407E-A947-70E740481C1C}">
                <a14:useLocalDpi xmlns:a14="http://schemas.microsoft.com/office/drawing/2010/main" val="0"/>
              </a:ext>
            </a:extLst>
          </a:blip>
          <a:srcRect r="17538" b="26305"/>
          <a:stretch/>
        </p:blipFill>
        <p:spPr>
          <a:xfrm>
            <a:off x="4153985" y="4853216"/>
            <a:ext cx="1496613" cy="1887529"/>
          </a:xfrm>
          <a:prstGeom prst="rect">
            <a:avLst/>
          </a:prstGeom>
        </p:spPr>
      </p:pic>
      <p:sp>
        <p:nvSpPr>
          <p:cNvPr id="28" name="TextBox 27">
            <a:extLst>
              <a:ext uri="{FF2B5EF4-FFF2-40B4-BE49-F238E27FC236}">
                <a16:creationId xmlns:a16="http://schemas.microsoft.com/office/drawing/2014/main" id="{8BD6B1DC-2293-A4A5-BD75-D99B8EE16016}"/>
              </a:ext>
            </a:extLst>
          </p:cNvPr>
          <p:cNvSpPr txBox="1"/>
          <p:nvPr/>
        </p:nvSpPr>
        <p:spPr>
          <a:xfrm>
            <a:off x="74230" y="1069621"/>
            <a:ext cx="12043540" cy="861774"/>
          </a:xfrm>
          <a:prstGeom prst="rect">
            <a:avLst/>
          </a:prstGeom>
          <a:noFill/>
        </p:spPr>
        <p:txBody>
          <a:bodyPr wrap="square" rtlCol="0">
            <a:spAutoFit/>
          </a:bodyPr>
          <a:lstStyle/>
          <a:p>
            <a:r>
              <a:rPr lang="en-US" sz="1600" b="1" dirty="0">
                <a:solidFill>
                  <a:schemeClr val="accent6">
                    <a:lumMod val="50000"/>
                  </a:schemeClr>
                </a:solidFill>
              </a:rPr>
              <a:t>Reliable Vial Port Detection occurs when </a:t>
            </a:r>
            <a:r>
              <a:rPr lang="en-US" sz="1600" b="1" u="sng" dirty="0">
                <a:solidFill>
                  <a:schemeClr val="accent6">
                    <a:lumMod val="50000"/>
                  </a:schemeClr>
                </a:solidFill>
              </a:rPr>
              <a:t>both</a:t>
            </a:r>
            <a:r>
              <a:rPr lang="en-US" sz="1600" b="1" dirty="0">
                <a:solidFill>
                  <a:schemeClr val="accent6">
                    <a:lumMod val="50000"/>
                  </a:schemeClr>
                </a:solidFill>
              </a:rPr>
              <a:t> the Tube Sensor (Bag Present) and the Vial Port Sensor are </a:t>
            </a:r>
            <a:r>
              <a:rPr lang="en-US" sz="1600" b="1" u="sng" dirty="0">
                <a:solidFill>
                  <a:schemeClr val="accent6">
                    <a:lumMod val="50000"/>
                  </a:schemeClr>
                </a:solidFill>
              </a:rPr>
              <a:t>on simultaneously </a:t>
            </a:r>
            <a:r>
              <a:rPr lang="en-US" sz="1600" b="1" dirty="0">
                <a:solidFill>
                  <a:schemeClr val="accent6">
                    <a:lumMod val="50000"/>
                  </a:schemeClr>
                </a:solidFill>
              </a:rPr>
              <a:t>at 4.0 degrees and every 22.5 degrees thereafter. **</a:t>
            </a:r>
            <a:r>
              <a:rPr lang="en-US" sz="1400" i="1" dirty="0">
                <a:solidFill>
                  <a:schemeClr val="accent6">
                    <a:lumMod val="50000"/>
                  </a:schemeClr>
                </a:solidFill>
              </a:rPr>
              <a:t>22.5 Mechanical Degrees is the distance between each clamp.**</a:t>
            </a:r>
          </a:p>
          <a:p>
            <a:r>
              <a:rPr lang="en-US" b="1" dirty="0"/>
              <a:t> </a:t>
            </a:r>
          </a:p>
        </p:txBody>
      </p:sp>
      <p:sp>
        <p:nvSpPr>
          <p:cNvPr id="30" name="TextBox 29">
            <a:extLst>
              <a:ext uri="{FF2B5EF4-FFF2-40B4-BE49-F238E27FC236}">
                <a16:creationId xmlns:a16="http://schemas.microsoft.com/office/drawing/2014/main" id="{2089769D-8E75-6B64-21CE-AFA89F7C90D7}"/>
              </a:ext>
            </a:extLst>
          </p:cNvPr>
          <p:cNvSpPr txBox="1"/>
          <p:nvPr/>
        </p:nvSpPr>
        <p:spPr>
          <a:xfrm>
            <a:off x="5679901" y="1674674"/>
            <a:ext cx="6512099" cy="1754326"/>
          </a:xfrm>
          <a:prstGeom prst="rect">
            <a:avLst/>
          </a:prstGeom>
          <a:noFill/>
        </p:spPr>
        <p:txBody>
          <a:bodyPr wrap="square" rtlCol="0">
            <a:spAutoFit/>
          </a:bodyPr>
          <a:lstStyle/>
          <a:p>
            <a:r>
              <a:rPr lang="en-US" dirty="0"/>
              <a:t>The Vial Port Sensor (Upper) will trigger on the tips of the Carrier Rake. This is unavoidable with the current design. These triggers are outside of the PLC timing “window” and should not affect the Vial Port Detection. The Missing Vial Port Alarm should trigger only when the Bag Present Sensor (lower) detects a bag (</a:t>
            </a:r>
            <a:r>
              <a:rPr lang="en-US" b="1" dirty="0">
                <a:solidFill>
                  <a:srgbClr val="7030A0"/>
                </a:solidFill>
              </a:rPr>
              <a:t>Fig. #2</a:t>
            </a:r>
            <a:r>
              <a:rPr lang="en-US" dirty="0"/>
              <a:t>) while the Vial Port Sensor (upper) does not (</a:t>
            </a:r>
            <a:r>
              <a:rPr lang="en-US" b="1" dirty="0">
                <a:solidFill>
                  <a:srgbClr val="9E6900"/>
                </a:solidFill>
              </a:rPr>
              <a:t>Fig. #5</a:t>
            </a:r>
            <a:r>
              <a:rPr lang="en-US" dirty="0">
                <a:solidFill>
                  <a:srgbClr val="9E6900"/>
                </a:solidFill>
              </a:rPr>
              <a:t>)</a:t>
            </a:r>
            <a:r>
              <a:rPr lang="en-US" b="1" dirty="0"/>
              <a:t>.</a:t>
            </a:r>
            <a:endParaRPr lang="en-US" b="1" dirty="0">
              <a:solidFill>
                <a:srgbClr val="9E6900"/>
              </a:solidFill>
            </a:endParaRPr>
          </a:p>
        </p:txBody>
      </p:sp>
      <p:sp>
        <p:nvSpPr>
          <p:cNvPr id="31" name="TextBox 30">
            <a:extLst>
              <a:ext uri="{FF2B5EF4-FFF2-40B4-BE49-F238E27FC236}">
                <a16:creationId xmlns:a16="http://schemas.microsoft.com/office/drawing/2014/main" id="{908DC1CE-6002-1B28-DFEF-9349F2554E05}"/>
              </a:ext>
            </a:extLst>
          </p:cNvPr>
          <p:cNvSpPr txBox="1"/>
          <p:nvPr/>
        </p:nvSpPr>
        <p:spPr>
          <a:xfrm>
            <a:off x="8574929" y="3438682"/>
            <a:ext cx="1057524" cy="276999"/>
          </a:xfrm>
          <a:prstGeom prst="rect">
            <a:avLst/>
          </a:prstGeom>
          <a:noFill/>
        </p:spPr>
        <p:txBody>
          <a:bodyPr wrap="square" rtlCol="0">
            <a:spAutoFit/>
          </a:bodyPr>
          <a:lstStyle/>
          <a:p>
            <a:r>
              <a:rPr lang="en-US" sz="1200" b="1" dirty="0">
                <a:solidFill>
                  <a:srgbClr val="9E6900"/>
                </a:solidFill>
              </a:rPr>
              <a:t>Fig. #5</a:t>
            </a:r>
          </a:p>
        </p:txBody>
      </p:sp>
      <p:sp>
        <p:nvSpPr>
          <p:cNvPr id="32" name="TextBox 31">
            <a:extLst>
              <a:ext uri="{FF2B5EF4-FFF2-40B4-BE49-F238E27FC236}">
                <a16:creationId xmlns:a16="http://schemas.microsoft.com/office/drawing/2014/main" id="{4D9403D5-A82D-2EF1-712D-0BEF83EB61DE}"/>
              </a:ext>
            </a:extLst>
          </p:cNvPr>
          <p:cNvSpPr txBox="1"/>
          <p:nvPr/>
        </p:nvSpPr>
        <p:spPr>
          <a:xfrm>
            <a:off x="10330716" y="27210"/>
            <a:ext cx="1178616" cy="215444"/>
          </a:xfrm>
          <a:prstGeom prst="rect">
            <a:avLst/>
          </a:prstGeom>
          <a:solidFill>
            <a:schemeClr val="accent1">
              <a:lumMod val="20000"/>
              <a:lumOff val="80000"/>
            </a:schemeClr>
          </a:solidFill>
          <a:scene3d>
            <a:camera prst="orthographicFront"/>
            <a:lightRig rig="threePt" dir="t"/>
          </a:scene3d>
          <a:sp3d extrusionH="6350" contourW="12700">
            <a:bevelT w="31750"/>
            <a:bevelB w="25400" h="88900"/>
          </a:sp3d>
        </p:spPr>
        <p:txBody>
          <a:bodyPr wrap="square" rtlCol="0">
            <a:spAutoFit/>
          </a:bodyPr>
          <a:lstStyle/>
          <a:p>
            <a:r>
              <a:rPr lang="en-US" sz="800" b="1" dirty="0">
                <a:solidFill>
                  <a:srgbClr val="7030A0"/>
                </a:solidFill>
              </a:rPr>
              <a:t>Ver. 1.2 Pat </a:t>
            </a:r>
            <a:r>
              <a:rPr lang="en-US" sz="800" b="1" dirty="0" err="1">
                <a:solidFill>
                  <a:srgbClr val="7030A0"/>
                </a:solidFill>
              </a:rPr>
              <a:t>McD</a:t>
            </a:r>
            <a:r>
              <a:rPr lang="en-US" sz="800" b="1" dirty="0">
                <a:solidFill>
                  <a:srgbClr val="7030A0"/>
                </a:solidFill>
              </a:rPr>
              <a:t>. 6/23</a:t>
            </a:r>
          </a:p>
        </p:txBody>
      </p:sp>
      <p:pic>
        <p:nvPicPr>
          <p:cNvPr id="33" name="Picture 32">
            <a:extLst>
              <a:ext uri="{FF2B5EF4-FFF2-40B4-BE49-F238E27FC236}">
                <a16:creationId xmlns:a16="http://schemas.microsoft.com/office/drawing/2014/main" id="{E048053B-973B-4865-0E8E-1B8CA2CB1929}"/>
              </a:ext>
            </a:extLst>
          </p:cNvPr>
          <p:cNvPicPr>
            <a:picLocks noChangeAspect="1"/>
          </p:cNvPicPr>
          <p:nvPr/>
        </p:nvPicPr>
        <p:blipFill>
          <a:blip r:embed="rId9"/>
          <a:stretch>
            <a:fillRect/>
          </a:stretch>
        </p:blipFill>
        <p:spPr>
          <a:xfrm>
            <a:off x="5849941" y="3659380"/>
            <a:ext cx="2012319" cy="3081365"/>
          </a:xfrm>
          <a:prstGeom prst="rect">
            <a:avLst/>
          </a:prstGeom>
        </p:spPr>
      </p:pic>
      <p:sp>
        <p:nvSpPr>
          <p:cNvPr id="35" name="TextBox 34">
            <a:extLst>
              <a:ext uri="{FF2B5EF4-FFF2-40B4-BE49-F238E27FC236}">
                <a16:creationId xmlns:a16="http://schemas.microsoft.com/office/drawing/2014/main" id="{77921FE6-5018-DAA1-53DC-6F2B7E090E2F}"/>
              </a:ext>
            </a:extLst>
          </p:cNvPr>
          <p:cNvSpPr txBox="1"/>
          <p:nvPr/>
        </p:nvSpPr>
        <p:spPr>
          <a:xfrm>
            <a:off x="6570228" y="3421305"/>
            <a:ext cx="112908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30A0"/>
                </a:solidFill>
                <a:effectLst/>
                <a:uLnTx/>
                <a:uFillTx/>
                <a:latin typeface="Calibri" panose="020F0502020204030204"/>
                <a:ea typeface="+mn-ea"/>
                <a:cs typeface="+mn-cs"/>
              </a:rPr>
              <a:t>Fig. #2</a:t>
            </a:r>
          </a:p>
        </p:txBody>
      </p:sp>
    </p:spTree>
    <p:extLst>
      <p:ext uri="{BB962C8B-B14F-4D97-AF65-F5344CB8AC3E}">
        <p14:creationId xmlns:p14="http://schemas.microsoft.com/office/powerpoint/2010/main" val="2163447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301</Words>
  <Application>Microsoft Office PowerPoint</Application>
  <PresentationFormat>Widescreen</PresentationFormat>
  <Paragraphs>16</Paragraphs>
  <Slides>1</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6" baseType="lpstr">
      <vt:lpstr>Arial</vt:lpstr>
      <vt:lpstr>Calibri</vt:lpstr>
      <vt:lpstr>Calibri Light</vt:lpstr>
      <vt:lpstr>Office Theme</vt:lpstr>
      <vt:lpstr>Microsoft Excel Worksheet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Gary Mcdonaldson</dc:creator>
  <cp:lastModifiedBy>Gary Mcdonaldson</cp:lastModifiedBy>
  <cp:revision>10</cp:revision>
  <cp:lastPrinted>2023-06-06T11:07:48Z</cp:lastPrinted>
  <dcterms:created xsi:type="dcterms:W3CDTF">2023-05-31T12:45:27Z</dcterms:created>
  <dcterms:modified xsi:type="dcterms:W3CDTF">2023-06-06T12:43:15Z</dcterms:modified>
</cp:coreProperties>
</file>